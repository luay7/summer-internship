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23FF695-CA2F-47E9-A8A9-4E7E0CA96CF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أبدأ بالتعريف بالمشروع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: Local Text Summarizer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هو نظام محلي لتلخيص ملفات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TXT.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أوضح أن المشروع يتكون من ثلاث مراحل رئيسية: التوجيه، التقسيم الدلالي، ثم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Map–Reduce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للتلخيص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الفكرة الأساسية أن المعالجة تتم محليًا ويمكن التحكم بالنماذج والحدود من الإعدادات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المشكلة أن الملفات الطويلة قد تتجاوز القدرة العملية للنموذج المحلي، وهذا قد يضعف ترتيب المعلومات وجودة الملخص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هدفي هو بناء أداة مفتوحة المصدر تعمل محليًا وتناسب من يهتم بالخصوصية أو يريد نظامًا شفافًا وقابلًا للتعديل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لا أقول إن الأداة منشورة كمشروع مفتوح المصدر الآن؛ أقول إن هذا هو هدف تصميم المشروع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benchmark output for annual_project_report.txt, 2026-08-13.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Direct full-text summarization: 113.392 s. Chunked Map–Reduce summarization: 52.543 s. The comparison excludes routing, Stanza segmentation, embeddings, and chunk preparation.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أبدأ بالتعريف بالمشروع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: Local Text Summarizer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هو نظام محلي لتلخيص ملفات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TXT.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أوضح أن المشروع يتكون من ثلاث مراحل رئيسية: التوجيه، التقسيم الدلالي، ثم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Map–Reduce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للتلخيص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الفكرة الأساسية أن المعالجة تتم محليًا ويمكن التحكم بالنماذج والحدود من الإعدادات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المرحلة الأولى هي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Routing Agent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،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ووظيفته ليست التلخيص بل اختيار مسار المعالجة المناسب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إذا كان المحتوى غير مفهوم تكون النتيجة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skip_file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ويتوقف الملف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إذا كان مفهومًا وضمن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2200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توكن تكون النتيجة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single_chunk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ويذهب مباشرة إلى التلخيص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إذا تجاوز الحد تكون النتيجة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semantic_chunking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،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فيمر أولًا بمرحلة التقسيم ثم التلخيص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النموذج يحكم على المعنى، بينما بايثون يتحقق من صحة المسار وحد التوكنز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المرحلة الثانية تُستخدم فقط للملفات الطويلة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Stanza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يقسم النص إلى جمل، ثم نضيف سياقًا من الجمل المجاورة باستخدام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Buffer Size.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نموذج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mxbai-embed-large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يحول أجزاء النص إلى متجهات، ثم نقارن المسافات لاكتشاف تغير الموضوع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عند نقاط التغير تتكون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Chunks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دلالية تحافظ على الأفكار المرتبطة معًا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بعد التوجيه والتقسيم يوجد سجل عام بصيغة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JSON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اسمه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processing registry.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يعرف كل ملف بواسطة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SHA-256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،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ويحفظ قرار الايجنت، أثر خطواته، إعدادات التشغيل، وملف الـ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chunks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الناتج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عند تشغيل المشروع مرة أخرى على الملف نفسه وبنفس الإعدادات، يعيد استخدام القرار والـ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chunks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بدل تنفيذ العمل من البداية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مهم: في النسخة الحالية الكاش يغطي التوجيه والتقسيم، أما ملفات الملخصات فتُحفظ منفصلة ولا يسجل السجل اكتمال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Phase 2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بعد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المرحلة الثالثة هي التلخيص باستخدام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Map–Reduce.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chunks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تُجمع في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batches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لا تتجاوز حد التوكنز، ثم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Map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ينتج ملخصًا جزئيًا لكل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batch.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إذا كان لدينا ملخص واحد فقط يصبح هو الناتج النهائي ولا نحتاج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Reduce.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إذا تعددت ملخصات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Map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،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يجمعها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Reduce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في نص واحد شامل، ويحذف التكرار ويحافظ على المعلومات المختلفة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النظام يحفظ الملخصات الجزئية في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JSON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والملخص النهائي في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TXT.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أختم بأن المشروع يعمل كسلسلة واحدة: يوجه الملف، يقسمه عند الحاجة، ثم يلخصه محليًا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كل نتيجة قابلة للمراجعة: قرار الايجنت، الـ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chunks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،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السجل، الملخصات الجزئية، والملخص النهائي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استخدام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Gemma 3 4B 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في التوجيه والتلخيص يعطي المشروع نموذجًا محليًا موحدًا، بينما الإعدادات تبقى قابلة للتغيير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  <a:cs typeface="Arial"/>
              </a:rPr>
              <a:t>الخلاصة أن المشروع يقلل العمل غير الضروري ويحافظ على معالجة واضحة وقابلة للتتبع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- User-provided project code, processing registry, and prior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685800" y="590400"/>
            <a:ext cx="874800" cy="3672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1638360"/>
            <a:ext cx="1057140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50" spc="-1" strike="noStrike">
                <a:solidFill>
                  <a:srgbClr val="f5f7fa"/>
                </a:solidFill>
                <a:latin typeface="Calibri"/>
                <a:ea typeface="Calibri"/>
              </a:rPr>
              <a:t>LOCAL TEXT SUMMARIZER</a:t>
            </a:r>
            <a:endParaRPr b="0" lang="en-US" sz="4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rot="27600">
            <a:off x="2509200" y="3913560"/>
            <a:ext cx="6858000" cy="1256040"/>
          </a:xfrm>
          <a:prstGeom prst="roundRect">
            <a:avLst>
              <a:gd name="adj" fmla="val 9091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743200" y="4249440"/>
            <a:ext cx="23036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32d7ea"/>
                </a:solidFill>
                <a:latin typeface="Calibri"/>
                <a:ea typeface="Calibri"/>
              </a:rPr>
              <a:t>NAME: 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32d7ea"/>
                </a:solidFill>
                <a:latin typeface="Calibri"/>
                <a:ea typeface="Calibri"/>
              </a:rPr>
              <a:t>Luay Abdullah Alhafi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172200" y="4249440"/>
            <a:ext cx="18288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a78bfa"/>
                </a:solidFill>
                <a:latin typeface="Calibri"/>
                <a:ea typeface="Calibri"/>
              </a:rPr>
              <a:t>STUDENT ID: 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a78bfa"/>
                </a:solidFill>
                <a:latin typeface="Calibri"/>
                <a:ea typeface="Calibri"/>
              </a:rPr>
              <a:t>2244184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715000" y="4211640"/>
            <a:ext cx="114120" cy="58896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PROBLEM AND GOAL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Local summarization should stay practical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62120" y="1809720"/>
            <a:ext cx="2094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32d7ea"/>
                </a:solidFill>
                <a:latin typeface="Calibri"/>
                <a:ea typeface="Calibri"/>
              </a:rPr>
              <a:t>THE PROBLEM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62120" y="2152800"/>
            <a:ext cx="9904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5f7fa"/>
                </a:solidFill>
                <a:latin typeface="Calibri"/>
                <a:ea typeface="Calibri"/>
              </a:rPr>
              <a:t>Long TXT files can overwhelm small local models.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62120" y="3048120"/>
            <a:ext cx="2760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29" spc="-1" strike="noStrike">
                <a:solidFill>
                  <a:srgbClr val="32d7ea"/>
                </a:solidFill>
                <a:latin typeface="Calibri"/>
                <a:ea typeface="Calibri"/>
              </a:rPr>
              <a:t>Long documents</a:t>
            </a:r>
            <a:endParaRPr b="0" lang="en-US" sz="172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552920" y="3048120"/>
            <a:ext cx="2760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29" spc="-1" strike="noStrike">
                <a:solidFill>
                  <a:srgbClr val="a78bfa"/>
                </a:solidFill>
                <a:latin typeface="Calibri"/>
                <a:ea typeface="Calibri"/>
              </a:rPr>
              <a:t>Lost structure</a:t>
            </a:r>
            <a:endParaRPr b="0" lang="en-US" sz="172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191440" y="3048120"/>
            <a:ext cx="31417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29" spc="-1" strike="noStrike">
                <a:solidFill>
                  <a:srgbClr val="32d7ea"/>
                </a:solidFill>
                <a:latin typeface="Calibri"/>
                <a:ea typeface="Calibri"/>
              </a:rPr>
              <a:t>Weak summaries</a:t>
            </a:r>
            <a:endParaRPr b="0" lang="en-US" sz="172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638520" y="2971800"/>
            <a:ext cx="5702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315200" y="2971800"/>
            <a:ext cx="57024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5800" y="4286160"/>
            <a:ext cx="10819080" cy="1389240"/>
          </a:xfrm>
          <a:prstGeom prst="roundRect">
            <a:avLst>
              <a:gd name="adj" fmla="val 8219"/>
            </a:avLst>
          </a:prstGeom>
          <a:solidFill>
            <a:srgbClr val="10151d"/>
          </a:solidFill>
          <a:ln w="1908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71640" y="4552920"/>
            <a:ext cx="209412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32d7ea"/>
                </a:solidFill>
                <a:latin typeface="Calibri"/>
                <a:ea typeface="Calibri"/>
              </a:rPr>
              <a:t>PROJECT GOAL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71640" y="4933800"/>
            <a:ext cx="980928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Build an open-source, fully local TXT summarizer for users who value privacy or transparent tools.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BENCHMARK — SUMMARIZATION TIME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Chunking cuts summarization time by 53.7%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85800" y="1695600"/>
            <a:ext cx="3427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2d7ea"/>
                </a:solidFill>
                <a:latin typeface="Calibri"/>
                <a:ea typeface="Calibri"/>
              </a:rPr>
              <a:t>SAME TEST CONDITIONS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19000" y="22478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047600" y="2171880"/>
            <a:ext cx="4665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Same TXT file + Gemma 3 4B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19000" y="28004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047600" y="27241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46,337 characters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19000" y="33526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047600" y="32767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12,023 estimated tokens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19000" y="39052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47600" y="38289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Direct: one complete request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19000" y="44578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047600" y="43815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Chunked: 6 Map + 1 Reduce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705720" y="1657440"/>
            <a:ext cx="4799160" cy="3560760"/>
          </a:xfrm>
          <a:prstGeom prst="roundRect">
            <a:avLst>
              <a:gd name="adj" fmla="val 3209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029360" y="1981080"/>
            <a:ext cx="2856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RESULTS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048440" y="247644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A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696080" y="243828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Direct — 1:53.392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696080" y="2838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048440" y="297180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B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696080" y="293364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Map–Reduce — 0:52.543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696080" y="3333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048440" y="346716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Δ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696080" y="342900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Saved — 1:00.849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696080" y="382896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048440" y="396252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×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696080" y="392436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Speedup — 2.16×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696080" y="432432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048440" y="445788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%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696080" y="441972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Reduction — 53.7%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85800" y="5562720"/>
            <a:ext cx="10819080" cy="588960"/>
          </a:xfrm>
          <a:prstGeom prst="roundRect">
            <a:avLst>
              <a:gd name="adj" fmla="val 19355"/>
            </a:avLst>
          </a:prstGeom>
          <a:solidFill>
            <a:srgbClr val="15343c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14400" y="5734080"/>
            <a:ext cx="103618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Summarization stage only — routing, chunking, and embeddings excluded.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685800" y="590400"/>
            <a:ext cx="874800" cy="3672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85800" y="800280"/>
            <a:ext cx="304668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2d7ea"/>
                </a:solidFill>
                <a:latin typeface="Calibri"/>
                <a:ea typeface="Calibri"/>
              </a:rPr>
              <a:t>PROJECT ARCHITECTURE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5800" y="1638360"/>
            <a:ext cx="1057140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50" spc="-1" strike="noStrike">
                <a:solidFill>
                  <a:srgbClr val="f5f7fa"/>
                </a:solidFill>
                <a:latin typeface="Calibri"/>
                <a:ea typeface="Calibri"/>
              </a:rPr>
              <a:t>THREE-STAGE PIPELINE</a:t>
            </a:r>
            <a:endParaRPr b="0" lang="en-US" sz="4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23960" y="2647800"/>
            <a:ext cx="8190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d7dde5"/>
                </a:solidFill>
                <a:latin typeface="Calibri"/>
                <a:ea typeface="Calibri"/>
              </a:rPr>
              <a:t>Each meaningful TXT file follows the stages required by its route.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3905280"/>
            <a:ext cx="10819080" cy="1256040"/>
          </a:xfrm>
          <a:prstGeom prst="roundRect">
            <a:avLst>
              <a:gd name="adj" fmla="val 9091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90720" y="4248000"/>
            <a:ext cx="2760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32d7ea"/>
                </a:solidFill>
                <a:latin typeface="Calibri"/>
                <a:ea typeface="Calibri"/>
              </a:rPr>
              <a:t>01  SMART ROUTING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495680" y="4248000"/>
            <a:ext cx="31417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a78bfa"/>
                </a:solidFill>
                <a:latin typeface="Calibri"/>
                <a:ea typeface="Calibri"/>
              </a:rPr>
              <a:t>02  SEMANTIC CHUNKING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572680" y="4248000"/>
            <a:ext cx="228456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32d7ea"/>
                </a:solidFill>
                <a:latin typeface="Calibri"/>
                <a:ea typeface="Calibri"/>
              </a:rPr>
              <a:t>03  MAP–REDUCE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000680" y="4152960"/>
            <a:ext cx="17640" cy="58896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039160" y="4152960"/>
            <a:ext cx="17640" cy="58896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049120" y="457200"/>
            <a:ext cx="514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929caa"/>
                </a:solidFill>
                <a:latin typeface="Calibri"/>
                <a:ea typeface="Calibri"/>
              </a:rPr>
              <a:t>04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STAGE 1 — ROUTING AGENT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The agent selects one safe processing route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66720" y="1581120"/>
            <a:ext cx="3732480" cy="4513320"/>
          </a:xfrm>
          <a:prstGeom prst="roundRect">
            <a:avLst>
              <a:gd name="adj" fmla="val 3061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1507680" y="1676520"/>
            <a:ext cx="2050200" cy="432288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/>
          <p:nvPr/>
        </p:nvSpPr>
        <p:spPr>
          <a:xfrm>
            <a:off x="5048280" y="1752480"/>
            <a:ext cx="2094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b7185"/>
                </a:solidFill>
                <a:latin typeface="Calibri"/>
                <a:ea typeface="Calibri"/>
              </a:rPr>
              <a:t>SKIP FILE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048280" y="2114640"/>
            <a:ext cx="59040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No coherent or useful information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048280" y="2514600"/>
            <a:ext cx="59040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29caa"/>
                </a:solidFill>
                <a:latin typeface="Calibri"/>
                <a:ea typeface="Calibri"/>
              </a:rPr>
              <a:t>Stop before Stage 2 and Stage 3.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048280" y="3009960"/>
            <a:ext cx="5999400" cy="1764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048280" y="3276720"/>
            <a:ext cx="25704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2d7ea"/>
                </a:solidFill>
                <a:latin typeface="Calibri"/>
                <a:ea typeface="Calibri"/>
              </a:rPr>
              <a:t>SINGLE CHUNK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048280" y="3638520"/>
            <a:ext cx="59994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Meaningful and within the 2,200-token limit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048280" y="4038480"/>
            <a:ext cx="599940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29caa"/>
                </a:solidFill>
                <a:latin typeface="Calibri"/>
                <a:ea typeface="Calibri"/>
              </a:rPr>
              <a:t>Create one chunk and summarize directly.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048280" y="4705200"/>
            <a:ext cx="5999400" cy="1764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048280" y="4971960"/>
            <a:ext cx="28562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78bfa"/>
                </a:solidFill>
                <a:latin typeface="Calibri"/>
                <a:ea typeface="Calibri"/>
              </a:rPr>
              <a:t>SEMANTIC CHUNKING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048280" y="5334120"/>
            <a:ext cx="59994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Meaningful and above the 2,200-token limit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048280" y="5734080"/>
            <a:ext cx="599940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29caa"/>
                </a:solidFill>
                <a:latin typeface="Calibri"/>
                <a:ea typeface="Calibri"/>
              </a:rPr>
              <a:t>Run Stage 2 first, then Stage 3.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AGENT JUDGES MEANING • PYTHON ENFORCES ROUTING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STAGE 2 — SEMANTIC CHUNKING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Semantic chunking preserves topic continuity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85800" y="1581120"/>
            <a:ext cx="990468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7dde5"/>
                </a:solidFill>
                <a:latin typeface="Calibri"/>
                <a:ea typeface="Calibri"/>
              </a:rPr>
              <a:t>Long files are divided by semantic changes—not by a fixed number of characters.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85800" y="2457360"/>
            <a:ext cx="874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32d7ea"/>
                </a:solidFill>
                <a:latin typeface="Calibri"/>
                <a:ea typeface="Calibri"/>
              </a:rPr>
              <a:t>01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85800" y="3143160"/>
            <a:ext cx="2360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Sentence segmentation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85800" y="3828960"/>
            <a:ext cx="228456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929caa"/>
                </a:solidFill>
                <a:latin typeface="Calibri"/>
                <a:ea typeface="Calibri"/>
              </a:rPr>
              <a:t>Stanza identifies sentence boundaries.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952720" y="3295800"/>
            <a:ext cx="4557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429000" y="2457360"/>
            <a:ext cx="874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32d7ea"/>
                </a:solidFill>
                <a:latin typeface="Calibri"/>
                <a:ea typeface="Calibri"/>
              </a:rPr>
              <a:t>02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429000" y="3143160"/>
            <a:ext cx="2360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Context windows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429000" y="3828960"/>
            <a:ext cx="228456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929caa"/>
                </a:solidFill>
                <a:latin typeface="Calibri"/>
                <a:ea typeface="Calibri"/>
              </a:rPr>
              <a:t>Nearby sentences are grouped to preserve context.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695920" y="3295800"/>
            <a:ext cx="4557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172200" y="2457360"/>
            <a:ext cx="874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a78bfa"/>
                </a:solidFill>
                <a:latin typeface="Calibri"/>
                <a:ea typeface="Calibri"/>
              </a:rPr>
              <a:t>03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172200" y="3143160"/>
            <a:ext cx="2360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Embedding comparison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172200" y="3828960"/>
            <a:ext cx="228456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929caa"/>
                </a:solidFill>
                <a:latin typeface="Calibri"/>
                <a:ea typeface="Calibri"/>
              </a:rPr>
              <a:t>Vector distance reveals changes in meaning.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439120" y="3295800"/>
            <a:ext cx="4557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915400" y="2457360"/>
            <a:ext cx="874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a78bfa"/>
                </a:solidFill>
                <a:latin typeface="Calibri"/>
                <a:ea typeface="Calibri"/>
              </a:rPr>
              <a:t>04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915400" y="3143160"/>
            <a:ext cx="23608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Topic breakpoints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8915400" y="3828960"/>
            <a:ext cx="2284560" cy="9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929caa"/>
                </a:solidFill>
                <a:latin typeface="Calibri"/>
                <a:ea typeface="Calibri"/>
              </a:rPr>
              <a:t>Related sentences become semantic chunks.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85800" y="5219640"/>
            <a:ext cx="10819080" cy="817560"/>
          </a:xfrm>
          <a:prstGeom prst="roundRect">
            <a:avLst>
              <a:gd name="adj" fmla="val 13953"/>
            </a:avLst>
          </a:prstGeom>
          <a:solidFill>
            <a:srgbClr val="2b2345"/>
          </a:solidFill>
          <a:ln w="936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933480" y="5467320"/>
            <a:ext cx="11034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RESULT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209680" y="5410080"/>
            <a:ext cx="85712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f7fa"/>
                </a:solidFill>
                <a:latin typeface="Calibri"/>
                <a:ea typeface="Calibri"/>
              </a:rPr>
              <a:t>Related ideas stay together before summarization.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SHARED PROCESSING REGISTRY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One JSON registry avoids repeated early-stage work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07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85800" y="1695600"/>
            <a:ext cx="3427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2d7ea"/>
                </a:solidFill>
                <a:latin typeface="Calibri"/>
                <a:ea typeface="Calibri"/>
              </a:rPr>
              <a:t>WHAT IT RECORDS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819000" y="22478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047600" y="2171880"/>
            <a:ext cx="4665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SHA-256 input hash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819000" y="28004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047600" y="27241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Routing decision and agent trace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19000" y="33526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047600" y="32767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Chunk signature and output path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19000" y="39052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047600" y="38289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Models, limits, and processing settings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19000" y="44578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047600" y="43815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Processing status and UTC timestamp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705720" y="1657440"/>
            <a:ext cx="4799160" cy="3560760"/>
          </a:xfrm>
          <a:prstGeom prst="roundRect">
            <a:avLst>
              <a:gd name="adj" fmla="val 3209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029360" y="1981080"/>
            <a:ext cx="2856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HOW IT SAVES WORK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048440" y="247644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01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696080" y="243828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Match file hash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696080" y="2838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048440" y="297180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02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7696080" y="293364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Validate settings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696080" y="3333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048440" y="346716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03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696080" y="342900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Reuse routing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696080" y="382896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048440" y="396252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04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696080" y="392436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Reuse chunks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696080" y="432432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048440" y="445788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05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696080" y="441972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Skip duplicate work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5800" y="5562720"/>
            <a:ext cx="10819080" cy="588960"/>
          </a:xfrm>
          <a:prstGeom prst="roundRect">
            <a:avLst>
              <a:gd name="adj" fmla="val 19355"/>
            </a:avLst>
          </a:prstGeom>
          <a:solidFill>
            <a:srgbClr val="15343c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14400" y="5734080"/>
            <a:ext cx="103618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Current scope: routing and chunking are cached; summary files are stored separately.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STAGE 3 — MAP–REDUCE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Map–Reduce builds one final summary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85800" y="2266920"/>
            <a:ext cx="1789200" cy="1427400"/>
          </a:xfrm>
          <a:prstGeom prst="roundRect">
            <a:avLst>
              <a:gd name="adj" fmla="val 8000"/>
            </a:avLst>
          </a:prstGeom>
          <a:solidFill>
            <a:srgbClr val="10151d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57160" y="2438280"/>
            <a:ext cx="14464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CHUNKS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57160" y="2895480"/>
            <a:ext cx="1446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Stage 2 output or one direct chunk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2571840" y="2724120"/>
            <a:ext cx="513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70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105000" y="2266920"/>
            <a:ext cx="1789200" cy="1427400"/>
          </a:xfrm>
          <a:prstGeom prst="roundRect">
            <a:avLst>
              <a:gd name="adj" fmla="val 8000"/>
            </a:avLst>
          </a:prstGeom>
          <a:solidFill>
            <a:srgbClr val="10151d"/>
          </a:solidFill>
          <a:ln w="1908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276720" y="2438280"/>
            <a:ext cx="14464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BATCHES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276720" y="2895480"/>
            <a:ext cx="1446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Grouped under the configured token limit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991040" y="2724120"/>
            <a:ext cx="513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70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524560" y="2266920"/>
            <a:ext cx="1789200" cy="1427400"/>
          </a:xfrm>
          <a:prstGeom prst="roundRect">
            <a:avLst>
              <a:gd name="adj" fmla="val 8000"/>
            </a:avLst>
          </a:prstGeom>
          <a:solidFill>
            <a:srgbClr val="10151d"/>
          </a:solidFill>
          <a:ln w="1908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695920" y="2438280"/>
            <a:ext cx="14464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MAP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695920" y="2895480"/>
            <a:ext cx="1446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One partial summary per batch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410600" y="2724120"/>
            <a:ext cx="513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70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943760" y="2266920"/>
            <a:ext cx="1789200" cy="1427400"/>
          </a:xfrm>
          <a:prstGeom prst="roundRect">
            <a:avLst>
              <a:gd name="adj" fmla="val 8000"/>
            </a:avLst>
          </a:prstGeom>
          <a:solidFill>
            <a:srgbClr val="10151d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115480" y="2438280"/>
            <a:ext cx="14464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REDUCE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115480" y="2895480"/>
            <a:ext cx="14464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Merge distinct ideas; remove repetition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9734400" y="2724120"/>
            <a:ext cx="3416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96372"/>
                </a:solidFill>
                <a:latin typeface="Calibri"/>
                <a:ea typeface="Calibri"/>
              </a:rPr>
              <a:t>→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0077480" y="2266920"/>
            <a:ext cx="1427400" cy="1427400"/>
          </a:xfrm>
          <a:prstGeom prst="roundRect">
            <a:avLst>
              <a:gd name="adj" fmla="val 8000"/>
            </a:avLst>
          </a:prstGeom>
          <a:solidFill>
            <a:srgbClr val="10151d"/>
          </a:solidFill>
          <a:ln w="1908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0248840" y="2438280"/>
            <a:ext cx="1084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FINAL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0248840" y="2895480"/>
            <a:ext cx="108432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Cohesive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29caa"/>
                </a:solidFill>
                <a:latin typeface="Calibri"/>
                <a:ea typeface="Calibri"/>
              </a:rPr>
              <a:t>summary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676520" y="4648320"/>
            <a:ext cx="8837640" cy="1065240"/>
          </a:xfrm>
          <a:prstGeom prst="roundRect">
            <a:avLst>
              <a:gd name="adj" fmla="val 10714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962000" y="4952880"/>
            <a:ext cx="1522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2d7ea"/>
                </a:solidFill>
                <a:latin typeface="Calibri"/>
                <a:ea typeface="Calibri"/>
              </a:rPr>
              <a:t>OUTPUTS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733920" y="4915080"/>
            <a:ext cx="285624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Partial summaries (JSON)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486560" y="4915080"/>
            <a:ext cx="24750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5f7fa"/>
                </a:solidFill>
                <a:latin typeface="Calibri"/>
                <a:ea typeface="Calibri"/>
              </a:rPr>
              <a:t>Final summary (TXT)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733920" y="5315040"/>
            <a:ext cx="622800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929caa"/>
                </a:solidFill>
                <a:latin typeface="Calibri"/>
                <a:ea typeface="Calibri"/>
              </a:rPr>
              <a:t>Intermediate results remain reviewable.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685800" y="399960"/>
            <a:ext cx="3237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2d7ea"/>
                </a:solidFill>
                <a:latin typeface="Calibri"/>
                <a:ea typeface="Calibri"/>
              </a:rPr>
              <a:t>END-TO-END RESULT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85800" y="685800"/>
            <a:ext cx="1009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5f7fa"/>
                </a:solidFill>
                <a:latin typeface="Calibri"/>
                <a:ea typeface="Calibri"/>
              </a:rPr>
              <a:t>The pipeline produces reusable, reviewable outputs</a:t>
            </a:r>
            <a:endParaRPr b="0" lang="en-U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1049120" y="457200"/>
            <a:ext cx="513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96372"/>
                </a:solidFill>
                <a:latin typeface="Calibri"/>
                <a:ea typeface="Calibri"/>
              </a:rPr>
              <a:t>09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5800" y="1295280"/>
            <a:ext cx="798840" cy="27000"/>
          </a:xfrm>
          <a:prstGeom prst="rect">
            <a:avLst/>
          </a:prstGeom>
          <a:solidFill>
            <a:srgbClr val="32d7ea"/>
          </a:solidFill>
          <a:ln w="0">
            <a:solidFill>
              <a:srgbClr val="32d7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85800" y="1695600"/>
            <a:ext cx="342756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2d7ea"/>
                </a:solidFill>
                <a:latin typeface="Calibri"/>
                <a:ea typeface="Calibri"/>
              </a:rPr>
              <a:t>CONTROL AND EFFICIENCY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19000" y="22478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047600" y="2171880"/>
            <a:ext cx="466596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Gemma 3 4B routes and summarizes locally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19000" y="280044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047600" y="27241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Semantic chunking runs only when needed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819000" y="33526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047600" y="327672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SHA-256 validation caches early stages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19000" y="39052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047600" y="38289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Models and token limits come from config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819000" y="4457880"/>
            <a:ext cx="74880" cy="74880"/>
          </a:xfrm>
          <a:prstGeom prst="ellipse">
            <a:avLst/>
          </a:prstGeom>
          <a:solidFill>
            <a:srgbClr val="32d7ea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047600" y="4381560"/>
            <a:ext cx="4856400" cy="4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7dde5"/>
                </a:solidFill>
                <a:latin typeface="Calibri"/>
                <a:ea typeface="Calibri"/>
              </a:rPr>
              <a:t>Streamlit exposes progress and results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705720" y="1657440"/>
            <a:ext cx="4799160" cy="3560760"/>
          </a:xfrm>
          <a:prstGeom prst="roundRect">
            <a:avLst>
              <a:gd name="adj" fmla="val 3209"/>
            </a:avLst>
          </a:prstGeom>
          <a:solidFill>
            <a:srgbClr val="10151d"/>
          </a:solidFill>
          <a:ln w="9360">
            <a:solidFill>
              <a:srgbClr val="2630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029360" y="1981080"/>
            <a:ext cx="2856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a78bfa"/>
                </a:solidFill>
                <a:latin typeface="Calibri"/>
                <a:ea typeface="Calibri"/>
              </a:rPr>
              <a:t>REVIEWABLE OUTPUTS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048440" y="247644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01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696080" y="243828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Routing decision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696080" y="2838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048440" y="297180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32d7ea"/>
                </a:solidFill>
                <a:latin typeface="Calibri"/>
                <a:ea typeface="Calibri"/>
              </a:rPr>
              <a:t>02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696080" y="293364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Semantic chunks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696080" y="333360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048440" y="346716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03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7696080" y="342900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Processing registry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696080" y="382896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048440" y="396252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04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696080" y="392436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Partial summaries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696080" y="4324320"/>
            <a:ext cx="3237120" cy="7920"/>
          </a:xfrm>
          <a:prstGeom prst="rect">
            <a:avLst/>
          </a:prstGeom>
          <a:solidFill>
            <a:srgbClr val="26303c"/>
          </a:solidFill>
          <a:ln w="0">
            <a:solidFill>
              <a:srgbClr val="2630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7048440" y="4457880"/>
            <a:ext cx="4748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a78bfa"/>
                </a:solidFill>
                <a:latin typeface="Calibri"/>
                <a:ea typeface="Calibri"/>
              </a:rPr>
              <a:t>05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696080" y="4419720"/>
            <a:ext cx="30466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80" spc="-1" strike="noStrike">
                <a:solidFill>
                  <a:srgbClr val="f5f7fa"/>
                </a:solidFill>
                <a:latin typeface="Calibri"/>
                <a:ea typeface="Calibri"/>
              </a:rPr>
              <a:t>Final summary</a:t>
            </a:r>
            <a:endParaRPr b="0" lang="en-U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685800" y="5562720"/>
            <a:ext cx="10819080" cy="588960"/>
          </a:xfrm>
          <a:prstGeom prst="roundRect">
            <a:avLst>
              <a:gd name="adj" fmla="val 19355"/>
            </a:avLst>
          </a:prstGeom>
          <a:solidFill>
            <a:srgbClr val="15343c"/>
          </a:solidFill>
          <a:ln w="9360">
            <a:solidFill>
              <a:srgbClr val="32d7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914400" y="5734080"/>
            <a:ext cx="10361880" cy="2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5f7fa"/>
                </a:solidFill>
                <a:latin typeface="Calibri"/>
                <a:ea typeface="Calibri"/>
              </a:rPr>
              <a:t>One local workflow routes, processes, and summarizes each meaningful TXT file.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85800" y="6496200"/>
            <a:ext cx="34275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596372"/>
                </a:solidFill>
                <a:latin typeface="Calibri"/>
                <a:ea typeface="Calibri"/>
              </a:rPr>
              <a:t>LOCAL TEXT SUMMARIZER</a:t>
            </a:r>
            <a:endParaRPr b="0" lang="en-US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2026-08-13T06:50:01Z</dcterms:created>
  <dc:creator>Walnut Exporter</dc:creator>
  <dc:description/>
  <dc:language>en-US</dc:language>
  <cp:lastModifiedBy/>
  <dcterms:modified xsi:type="dcterms:W3CDTF">2026-08-13T10:02:49Z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